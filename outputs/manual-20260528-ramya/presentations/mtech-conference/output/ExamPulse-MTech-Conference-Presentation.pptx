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366760" y="-1280160"/>
            <a:ext cx="5303520" cy="5303520"/>
          </a:xfrm>
          <a:prstGeom prst="arc">
            <a:avLst/>
          </a:prstGeom>
          <a:noFill/>
          <a:ln w="13970">
            <a:solidFill>
              <a:srgbClr val="214161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500000">
            <a:off x="-1554480" y="4526280"/>
            <a:ext cx="3749040" cy="3749040"/>
          </a:xfrm>
          <a:prstGeom prst="arc">
            <a:avLst/>
          </a:prstGeom>
          <a:noFill/>
          <a:ln w="12700">
            <a:solidFill>
              <a:srgbClr val="1D3B53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Secure, Scalable Hybrid Examination 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21792" y="1847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E6F8"/>
                </a:solidFill>
              </a:rPr>
              <a:t>For Seamless Digital and Offline Assessments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" y="2505456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574036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M.Tech Conference Presentation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27248" y="2505456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12B5CB">
              <a:alpha val="95000"/>
            </a:srgbClr>
          </a:solidFill>
          <a:ln w="12700">
            <a:solidFill>
              <a:srgbClr val="12B5C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257403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Computer Science and Engineering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092440" y="822960"/>
            <a:ext cx="3337560" cy="4892040"/>
          </a:xfrm>
          <a:prstGeom prst="roundRect">
            <a:avLst>
              <a:gd name="adj" fmla="val 1644"/>
            </a:avLst>
          </a:prstGeom>
          <a:solidFill>
            <a:srgbClr val="10243A"/>
          </a:solidFill>
          <a:ln w="12700">
            <a:solidFill>
              <a:srgbClr val="2C4B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170432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13258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31352" y="17007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responsive frontend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57232" y="1170432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2B5CB"/>
          </a:solidFill>
          <a:ln w="12700">
            <a:solidFill>
              <a:srgbClr val="12B5C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21824" y="13258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Node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21824" y="17007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Express API layer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66760" y="2359152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51460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MySQL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31352" y="28895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secure persistence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857232" y="2359152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21824" y="251460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21824" y="28895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answer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" y="46451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DB1C7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49011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Nimmalapudi Sri Satya Ramya  |  243B1D5811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1792" y="524865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7E7"/>
                </a:solidFill>
              </a:rPr>
              <a:t>Guide: M. V Ramana, Ph.D.  |  VSM College of Engineering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CONTENTS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presentation follows the project report index.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0992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8308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01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252728" y="1691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Abstract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52728" y="2121408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322576"/>
            <a:ext cx="310896" cy="310896"/>
          </a:xfrm>
          <a:prstGeom prst="ellipse">
            <a:avLst/>
          </a:prstGeom>
          <a:solidFill>
            <a:srgbClr val="12B5C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95728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02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1252728" y="2304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52728" y="2734056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93522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00837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03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1252728" y="29169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Literature Survey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52728" y="3346704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54787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62102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04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1252728" y="3529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System Requirement &amp; Analysis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52728" y="3959352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60520"/>
            <a:ext cx="310896" cy="310896"/>
          </a:xfrm>
          <a:prstGeom prst="ellipse">
            <a:avLst/>
          </a:prstGeom>
          <a:solidFill>
            <a:srgbClr val="12B5C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23367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05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1252728" y="41422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System Design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52728" y="4572000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7731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84632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06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1252728" y="47548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Implementations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52728" y="5184648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70992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178308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07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6876288" y="16916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Sample Code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876288" y="2121408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2322576"/>
            <a:ext cx="310896" cy="310896"/>
          </a:xfrm>
          <a:prstGeom prst="ellipse">
            <a:avLst/>
          </a:prstGeom>
          <a:solidFill>
            <a:srgbClr val="12B5C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395728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08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6876288" y="2304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Testing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76288" y="2734056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293522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00837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09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6876288" y="29169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Screenshots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76288" y="3346704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354787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3621024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10</a:t>
            </a:r>
            <a:endParaRPr lang="en-US" sz="640" dirty="0"/>
          </a:p>
        </p:txBody>
      </p:sp>
      <p:sp>
        <p:nvSpPr>
          <p:cNvPr id="47" name="Text 45"/>
          <p:cNvSpPr/>
          <p:nvPr/>
        </p:nvSpPr>
        <p:spPr>
          <a:xfrm>
            <a:off x="6876288" y="3529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Conclusion and Future Scope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876288" y="3959352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4160520"/>
            <a:ext cx="310896" cy="310896"/>
          </a:xfrm>
          <a:prstGeom prst="ellipse">
            <a:avLst/>
          </a:prstGeom>
          <a:solidFill>
            <a:srgbClr val="12B5C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28232" y="423367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11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6876288" y="41422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</a:rPr>
              <a:t>References and Bibliography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876288" y="4572000"/>
            <a:ext cx="45262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ABSTRACT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ExamPulse unifies secure online exams with offline worksheet workflows.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830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Hybrid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6112" y="21579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online tests + downloadable worksheets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627632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2B5CB"/>
          </a:solidFill>
          <a:ln w="12700">
            <a:solidFill>
              <a:srgbClr val="12B5C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7830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Role-based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0712" y="21579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super admin, admin, teacher, student, parent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1627632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7830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25312" y="21579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evaluation, analytics, instant result reports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75320" y="1627632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7830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Scalable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39912" y="21579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React, Express, MySQL, JWT, PDF/XLSX flows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306324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06324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227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4168" y="3227832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Problem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44168" y="3547872"/>
            <a:ext cx="26791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Traditional exam processes are hard to scale, difficult to monitor, and depend heavily on physical classrooms.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389120" y="306324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06324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3227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&gt;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56048" y="3227832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Solution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56048" y="3547872"/>
            <a:ext cx="26791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A web platform manages exam setup, question banks, schedules, submissions, reports, and offline preparation.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001000" y="306324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306324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3227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67928" y="3227832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Outcome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67928" y="3547872"/>
            <a:ext cx="26791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The system reduces manual effort while keeping assessment delivery flexible, secure, and institution-ready.</a:t>
            </a:r>
            <a:endParaRPr lang="en-US" sz="9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framework keeps assessment continuity across online and offline scenarios.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6"/>
                </a:solidFill>
              </a:rPr>
              <a:t>ExamPulse operating loop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219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52728" y="22128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E1726"/>
                </a:solidFill>
              </a:rPr>
              <a:t>Authenticate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978408" y="2596896"/>
            <a:ext cx="13533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JWT login and role access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87752" y="2395728"/>
            <a:ext cx="256032" cy="237744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9FBFF"/>
          </a:solidFill>
          <a:ln w="15240">
            <a:solidFill>
              <a:srgbClr val="12B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2219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CB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93008" y="22128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E1726"/>
                </a:solidFill>
              </a:rPr>
              <a:t>Create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3218688" y="2596896"/>
            <a:ext cx="13533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Question bank, exams, schedules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28032" y="2395728"/>
            <a:ext cx="256032" cy="237744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2219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33288" y="22128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E1726"/>
                </a:solidFill>
              </a:rPr>
              <a:t>Attempt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458968" y="2596896"/>
            <a:ext cx="13533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Online exam or PDF worksheet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68312" y="2395728"/>
            <a:ext cx="256032" cy="237744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9FBFF"/>
          </a:solidFill>
          <a:ln w="15240">
            <a:solidFill>
              <a:srgbClr val="12B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2219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CB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73568" y="22128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E1726"/>
                </a:solidFill>
              </a:rPr>
              <a:t>Evaluate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7699248" y="2596896"/>
            <a:ext cx="13533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Objective + subjective scoring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08592" y="2395728"/>
            <a:ext cx="256032" cy="237744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20574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2219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213848" y="22128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E1726"/>
                </a:solidFill>
              </a:rPr>
              <a:t>Report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9939528" y="2596896"/>
            <a:ext cx="13533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Results, analytics, exports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14400" y="3913632"/>
            <a:ext cx="51206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00" dirty="0">
                <a:solidFill>
                  <a:srgbClr val="0E1726"/>
                </a:solidFill>
              </a:rPr>
              <a:t>Designed for institutions that need exam delivery beyond a single classroom or device.</a:t>
            </a:r>
            <a:endParaRPr lang="en-US" sz="1300" dirty="0"/>
          </a:p>
          <a:p>
            <a:r>
              <a:rPr lang="en-US" sz="1300" dirty="0">
                <a:solidFill>
                  <a:srgbClr val="0E1726"/>
                </a:solidFill>
              </a:rPr>
              <a:t>Supports students, teachers, administrators, super administrators, and parents.</a:t>
            </a:r>
            <a:endParaRPr lang="en-US" sz="1300" dirty="0"/>
          </a:p>
          <a:p>
            <a:r>
              <a:rPr lang="en-US" sz="1300" dirty="0">
                <a:solidFill>
                  <a:srgbClr val="0E1726"/>
                </a:solidFill>
              </a:rPr>
              <a:t>Balances operational control with student-facing usability and fast result access.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75120" y="3794760"/>
            <a:ext cx="4343400" cy="1417320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379476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39593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*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42048" y="3959352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Core promise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242048" y="4279392"/>
            <a:ext cx="3593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A single framework can manage setup, access, assessment, offline practice, analysis, and reporting without splitting the workflow across tools.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LITERATURE SURVEY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systems solve parts of exam delivery, but hybrid continuity remains the gap.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10744200" cy="3931920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56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Approach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18562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Strength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03720" y="1856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Limitation / Gap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7552" y="2167128"/>
            <a:ext cx="100126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31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1726"/>
                </a:solidFill>
              </a:rPr>
              <a:t>Traditional classroom exams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High trust and familiarity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6903720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Manual scheduling, paper handling, delayed results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987552" y="2880360"/>
            <a:ext cx="100126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044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1726"/>
                </a:solidFill>
              </a:rPr>
              <a:t>Generic online test portals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Remote access and auto-evaluation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903720" y="30449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Limited offline worksheet support and institution-specific control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987552" y="3593592"/>
            <a:ext cx="100126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758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1726"/>
                </a:solidFill>
              </a:rPr>
              <a:t>LMS quiz modules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37581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Integrated with course content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6903720" y="37581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Often weaker in role governance, reports, and admin approval flows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987552" y="4306824"/>
            <a:ext cx="100126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471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1726"/>
                </a:solidFill>
              </a:rPr>
              <a:t>ExamPulse direction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0" y="44714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Hybrid exam + worksheet + analytics workflow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6903720" y="4471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Built for institutional control and scalable modules</a:t>
            </a:r>
            <a:endParaRPr lang="en-US" sz="9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SYSTEM REQUIREMENT &amp;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requirements center on secure access, modular control, and exam reliability.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572768"/>
            <a:ext cx="315468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72768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7373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4168" y="173736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Functional requirements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44168" y="2057400"/>
            <a:ext cx="2404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Authentication, question banks, exam scheduling, online attempts, PDF worksheets, results, reports, parent-teacher requests.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526280" y="1572768"/>
            <a:ext cx="315468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572768"/>
            <a:ext cx="64008" cy="118872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7373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5CB"/>
                </a:solidFill>
              </a:rPr>
              <a:t>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3208" y="173736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Non-functional requirements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93208" y="2057400"/>
            <a:ext cx="2404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Performance under concurrent users, browser compatibility, maintainability, scalability, data security.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275320" y="1572768"/>
            <a:ext cx="315468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572768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17373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42248" y="173736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Feasibility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42248" y="2057400"/>
            <a:ext cx="2404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Uses readily available web technologies with a modular API and database-backed persistence model.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60120" y="3383280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352044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Hardware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5021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Standard user devices, server host, stable network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217920" y="3383280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352044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B5CB"/>
                </a:solidFill>
              </a:rPr>
              <a:t>Software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35021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React.js, Node.js, Express.js, MySQL, JWT, PDF/XLSX tooling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960120" y="4206240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1288" y="434340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Security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31720" y="43251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Login validation, role-based routes, protected exam/result operations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6217920" y="4206240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434340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Scale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43251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</a:rPr>
              <a:t>Module separation enables future course, user, and exam growth</a:t>
            </a:r>
            <a:endParaRPr lang="en-US" sz="8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SYSTEM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three-tier design separates presentation, business logic, and persistent data.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6839712" cy="3959352"/>
          </a:xfrm>
          <a:prstGeom prst="roundRect">
            <a:avLst>
              <a:gd name="adj" fmla="val 92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10" name="Image 0" descr="C:\onlineexam\outputs\manual-20260528-ramya\presentations\mtech-conference\assets\system-archite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554480"/>
            <a:ext cx="6766560" cy="3886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18120" y="1691640"/>
            <a:ext cx="3337560" cy="841248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18120" y="1691640"/>
            <a:ext cx="6400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19288" y="18562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5048" y="18562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Presentation layer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85048" y="2176272"/>
            <a:ext cx="258775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React + MUI delivers dashboards, exam pages, forms, and role-specific navigation.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7818120" y="2743200"/>
            <a:ext cx="3337560" cy="841248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2743200"/>
            <a:ext cx="64008" cy="841248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19288" y="290779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5CB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85048" y="290779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Application layer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85048" y="3227832"/>
            <a:ext cx="258775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Express routes handle auth, setup, users, exams, worksheets, analytics, and ML scoring.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7818120" y="3794760"/>
            <a:ext cx="3337560" cy="841248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18120" y="3794760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19288" y="39593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85048" y="395935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Data layer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385048" y="4279392"/>
            <a:ext cx="258775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MySQL stores users, exams, questions, submissions, results, access, and reports.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IMPLEMENTATIONS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is organized around role-specific modules and reusable backend routes.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664208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773936"/>
            <a:ext cx="1572768" cy="347472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8608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Super Admin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944368" y="1828800"/>
            <a:ext cx="7269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1726"/>
                </a:solidFill>
              </a:rPr>
              <a:t>setup, approvals, packages, activation, reports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68680" y="2450592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2560320"/>
            <a:ext cx="1572768" cy="347472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6471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Admin / Teacher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44368" y="2615184"/>
            <a:ext cx="7269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1726"/>
                </a:solidFill>
              </a:rPr>
              <a:t>questions, exams, users, worksheets, question paper generation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868680" y="3236976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346704"/>
            <a:ext cx="1572768" cy="347472"/>
          </a:xfrm>
          <a:prstGeom prst="roundRect">
            <a:avLst>
              <a:gd name="adj" fmla="val 10526"/>
            </a:avLst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43357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Student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944368" y="3401568"/>
            <a:ext cx="7269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1726"/>
                </a:solidFill>
              </a:rPr>
              <a:t>practice, scheduled exams, profile, submissions, results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68680" y="4023360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133088"/>
            <a:ext cx="1572768" cy="347472"/>
          </a:xfrm>
          <a:prstGeom prst="roundRect">
            <a:avLst>
              <a:gd name="adj" fmla="val 1052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21995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Parent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44368" y="4187952"/>
            <a:ext cx="7269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1726"/>
                </a:solidFill>
              </a:rPr>
              <a:t>relationship details, meeting requests, review flows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914400" y="5074920"/>
            <a:ext cx="315468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07492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5239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81328" y="5239512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Frontend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81328" y="5559552"/>
            <a:ext cx="24048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React 18, MUI dashboard components, Axios API integration.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526280" y="5074920"/>
            <a:ext cx="315468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5074920"/>
            <a:ext cx="64008" cy="658368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5239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93208" y="5239512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Backend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93208" y="5559552"/>
            <a:ext cx="24048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Express 5 routes with MySQL, JWT, multer, PDFKit, XLSX.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8138160" y="5074920"/>
            <a:ext cx="283464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507492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52395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05088" y="52395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Analytics / ML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05088" y="5559552"/>
            <a:ext cx="208483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Similarity, coverage, length adequacy and scoring helpers.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366760" y="-1280160"/>
            <a:ext cx="5303520" cy="5303520"/>
          </a:xfrm>
          <a:prstGeom prst="arc">
            <a:avLst/>
          </a:prstGeom>
          <a:noFill/>
          <a:ln w="13970">
            <a:solidFill>
              <a:srgbClr val="214161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500000">
            <a:off x="-1554480" y="4526280"/>
            <a:ext cx="3749040" cy="3749040"/>
          </a:xfrm>
          <a:prstGeom prst="arc">
            <a:avLst/>
          </a:prstGeom>
          <a:noFill/>
          <a:ln w="12700">
            <a:solidFill>
              <a:srgbClr val="1D3B5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ADC"/>
                </a:solidFill>
              </a:rPr>
              <a:t>SAMPLE CODE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backend composes focused API routes into one examination service.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664208"/>
            <a:ext cx="5577840" cy="4160520"/>
          </a:xfrm>
          <a:prstGeom prst="roundRect">
            <a:avLst>
              <a:gd name="adj" fmla="val 1099"/>
            </a:avLst>
          </a:prstGeom>
          <a:solidFill>
            <a:srgbClr val="07111F"/>
          </a:solidFill>
          <a:ln w="12700">
            <a:solidFill>
              <a:srgbClr val="21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920240"/>
            <a:ext cx="507492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app.use('/api/auth', require('./routes/authRoutes'));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app.use('/api/student/myexam', studentMyexamRouter);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app.use('/api/analytics', require('./routes/analyticsRoutes'));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app.use('/api/ml', require('./routes/mlRoutes'));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app.use('/api/admin/manageexams', require('./routes/admin/manageexams'));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app.use('/api/teacher/generatequestionpaper',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7E7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require('./routes/teacher/generatequestionpaper'));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812280" y="1783080"/>
            <a:ext cx="397764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783080"/>
            <a:ext cx="64008" cy="96012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9476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5CB"/>
                </a:solidFill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9208" y="1947672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Route-level separation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79208" y="2267712"/>
            <a:ext cx="3227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Each role or feature area owns its own route module, making the platform easier to extend and debug.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812280" y="3017520"/>
            <a:ext cx="397764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3017520"/>
            <a:ext cx="6400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3448" y="318211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9208" y="3182112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ML scoring service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79208" y="3502152"/>
            <a:ext cx="3227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Subjective answer quality is estimated through text similarity, key term coverage, and length adequacy.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812280" y="4251960"/>
            <a:ext cx="397764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4251960"/>
            <a:ext cx="64008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44165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79208" y="4416552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Offline support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79208" y="4736592"/>
            <a:ext cx="3227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Teachers can generate downloadable worksheets and question papers for offline exams.</a:t>
            </a:r>
            <a:endParaRPr lang="en-US" sz="9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TESTING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validates login, exam flow, role permissions, reporting, and worksheet generation.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700784"/>
            <a:ext cx="297180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700784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8653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5608" y="186537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Unit testing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35608" y="2185416"/>
            <a:ext cx="2221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Route handlers, helpers, validation logic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480560" y="1700784"/>
            <a:ext cx="297180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700784"/>
            <a:ext cx="64008" cy="96012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8653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5CB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7488" y="186537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Integration testing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47488" y="2185416"/>
            <a:ext cx="2221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Frontend requests to backend APIs and MySQL operations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092440" y="1700784"/>
            <a:ext cx="297180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700784"/>
            <a:ext cx="6400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8653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59368" y="186537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Functional testing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59368" y="2185416"/>
            <a:ext cx="2221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Login, exam creation, question add/edit, submission, result view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68680" y="3118104"/>
            <a:ext cx="297180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118104"/>
            <a:ext cx="64008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328269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35608" y="328269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Security testing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35608" y="3602736"/>
            <a:ext cx="2221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Unauthorized access, role checks, protected routes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4480560" y="3118104"/>
            <a:ext cx="2971800" cy="96012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118104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28269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7488" y="328269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Usability testing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47488" y="3602736"/>
            <a:ext cx="2221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Dashboard navigation, exam attempt flow, result readability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914400" y="4864608"/>
            <a:ext cx="10149840" cy="640080"/>
          </a:xfrm>
          <a:prstGeom prst="roundRect">
            <a:avLst>
              <a:gd name="adj" fmla="val 7143"/>
            </a:avLst>
          </a:prstGeom>
          <a:solidFill>
            <a:srgbClr val="E8F6FF"/>
          </a:solidFill>
          <a:ln w="12700">
            <a:solidFill>
              <a:srgbClr val="BCE7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5056632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E1726"/>
                </a:solidFill>
              </a:rPr>
              <a:t>Expected test outcome: stable role-based access, correct exam lifecycle, accurate result generation, and reliable downloadable offline papers.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SCREENSHOTS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implemented UI supports both administrative control and student-facing workflows.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" y="1563624"/>
            <a:ext cx="5330952" cy="2130552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10" name="Image 0" descr="C:\onlineexam\outputs\manual-20260528-ramya\presentations\mtech-conference\assets\super-admin-approval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5257800" cy="2057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9632" y="1563624"/>
            <a:ext cx="5330952" cy="2130552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12" name="Image 1" descr="C:\onlineexam\outputs\manual-20260528-ramya\presentations\mtech-conference\assets\admin-panel-overvie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36208" y="1600200"/>
            <a:ext cx="5257800" cy="2057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9224" y="3877056"/>
            <a:ext cx="5330952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14" name="Image 2" descr="C:\onlineexam\outputs\manual-20260528-ramya\presentations\mtech-conference\assets\add-quest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3913632"/>
            <a:ext cx="5257800" cy="16642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99632" y="3877056"/>
            <a:ext cx="5330952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pic>
        <p:nvPicPr>
          <p:cNvPr id="16" name="Image 3" descr="C:\onlineexam\outputs\manual-20260528-ramya\presentations\mtech-conference\assets\student-profil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36208" y="3913632"/>
            <a:ext cx="5257800" cy="16642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685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Super Admin approvals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6327648" y="3685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Admin panel overview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CONCLUSION AND FUTURE SCOPE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framework delivers a usable foundation for secure, hybrid institutional assessment.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1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493776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91640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8562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4168" y="185623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Conclusion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44168" y="2176272"/>
            <a:ext cx="41879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ExamPulse brings exam setup, access control, online attempts, offline worksheets, evaluation, and reports into a single workflow.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493776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15468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3192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4168" y="331927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1726"/>
                </a:solidFill>
              </a:rPr>
              <a:t>Project value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44168" y="3639312"/>
            <a:ext cx="41879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The platform reduces manual exam effort while improving continuity, speed of result access, and administrative visibility.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70992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</a:rPr>
              <a:t>AI proctoring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275320" y="170992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Face/behavior monitoring and malpractice alerts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446520" y="2368296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247802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97316"/>
                </a:solidFill>
              </a:rPr>
              <a:t>Adaptive tests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275320" y="247802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Difficulty adjusted using student performance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446520" y="3136392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324612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B5CB"/>
                </a:solidFill>
              </a:rPr>
              <a:t>Mobile app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275320" y="324612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Dedicated Android/iOS interface for students and parents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446520" y="3904488"/>
            <a:ext cx="43434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401421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A34A"/>
                </a:solidFill>
              </a:rPr>
              <a:t>Cloud scale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8275320" y="4014216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Containerized deployment, backups, and monitoring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366760" y="-1280160"/>
            <a:ext cx="5303520" cy="5303520"/>
          </a:xfrm>
          <a:prstGeom prst="arc">
            <a:avLst/>
          </a:prstGeom>
          <a:noFill/>
          <a:ln w="13970">
            <a:solidFill>
              <a:srgbClr val="214161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500000">
            <a:off x="-1554480" y="4526280"/>
            <a:ext cx="3749040" cy="3749040"/>
          </a:xfrm>
          <a:prstGeom prst="arc">
            <a:avLst/>
          </a:prstGeom>
          <a:noFill/>
          <a:ln w="12700">
            <a:solidFill>
              <a:srgbClr val="1D3B5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ADC"/>
                </a:solidFill>
              </a:rPr>
              <a:t>REFERENCES AND BIBLIOGRAPHY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 builds on standard web engineering, database, and assessment-management practices.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ExamPulse | Hybrid Digital + Offline Assessment Framework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356848" y="63276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81381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00" dirty="0">
                <a:solidFill>
                  <a:srgbClr val="DDEBFA"/>
                </a:solidFill>
              </a:rPr>
              <a:t>Project report: A Secure, Scalable Hybrid Examination Framework For Seamless Digital and Offline Assessments.</a:t>
            </a:r>
            <a:endParaRPr lang="en-US" sz="1300" dirty="0"/>
          </a:p>
          <a:p>
            <a:r>
              <a:rPr lang="en-US" sz="1300" dirty="0">
                <a:solidFill>
                  <a:srgbClr val="DDEBFA"/>
                </a:solidFill>
              </a:rPr>
              <a:t>React.js and Material UI documentation for the frontend dashboard implementation.</a:t>
            </a:r>
            <a:endParaRPr lang="en-US" sz="1300" dirty="0"/>
          </a:p>
          <a:p>
            <a:r>
              <a:rPr lang="en-US" sz="1300" dirty="0">
                <a:solidFill>
                  <a:srgbClr val="DDEBFA"/>
                </a:solidFill>
              </a:rPr>
              <a:t>Express.js, Node.js, JWT, MySQL, PDFKit, and XLSX documentation for backend services and exports.</a:t>
            </a:r>
            <a:endParaRPr lang="en-US" sz="1300" dirty="0"/>
          </a:p>
          <a:p>
            <a:r>
              <a:rPr lang="en-US" sz="1300" dirty="0">
                <a:solidFill>
                  <a:srgbClr val="DDEBFA"/>
                </a:solidFill>
              </a:rPr>
              <a:t>Software engineering references for requirements analysis, UML design, testing methodology, and maintainable modular architecture.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224528"/>
            <a:ext cx="3840480" cy="0"/>
          </a:xfrm>
          <a:prstGeom prst="line">
            <a:avLst/>
          </a:prstGeom>
          <a:noFill/>
          <a:ln w="1651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6112" y="5074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ED"/>
                </a:solidFill>
              </a:rPr>
              <a:t>Questions and discussion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1481328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10243A"/>
          </a:solidFill>
          <a:ln w="12700">
            <a:solidFill>
              <a:srgbClr val="2C4B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17830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2712" y="193852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82712" y="2313432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authentication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326880" y="17830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193852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Scalable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91472" y="2313432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modular API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2953512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310896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Hybrid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82712" y="3483864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online + offline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26880" y="2953512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2B5CB"/>
          </a:solidFill>
          <a:ln w="12700">
            <a:solidFill>
              <a:srgbClr val="12B5C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310896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Assessment-ready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91472" y="3483864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F3FF"/>
                </a:solidFill>
              </a:rPr>
              <a:t>reports + analytics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VSM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Secure, Scalable Hybrid Examination Framework</dc:title>
  <dc:subject>M.Tech Project Conference Presentation</dc:subject>
  <dc:creator>Nimmalapudi Sri Satya Ramya</dc:creator>
  <cp:lastModifiedBy>Nimmalapudi Sri Satya Ramya</cp:lastModifiedBy>
  <cp:revision>1</cp:revision>
  <dcterms:created xsi:type="dcterms:W3CDTF">2026-05-28T10:47:54Z</dcterms:created>
  <dcterms:modified xsi:type="dcterms:W3CDTF">2026-05-28T10:47:54Z</dcterms:modified>
</cp:coreProperties>
</file>